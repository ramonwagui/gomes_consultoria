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3200400"/>
            <a:ext cx="3200400" cy="1943100"/>
          </a:xfrm>
          <a:prstGeom prst="rect">
            <a:avLst/>
          </a:prstGeom>
          <a:solidFill>
            <a:srgbClr val="1E9D78">
              <a:alpha val="25000"/>
            </a:srgbClr>
          </a:solidFill>
          <a:ln w="12700">
            <a:solidFill>
              <a:srgbClr val="1E9D7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E9D78">
              <a:alpha val="15000"/>
            </a:srgbClr>
          </a:solidFill>
          <a:ln w="12700">
            <a:solidFill>
              <a:srgbClr val="1E9D7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C08A"/>
          </a:solidFill>
          <a:ln w="12700">
            <a:solidFill>
              <a:srgbClr val="2CC0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292608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97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2CC08A"/>
                </a:solidFill>
              </a:rPr>
              <a:t>SISTEMA DE GERENCIAMENTO E ACOMPANHAMENTO DE CONVÊNIOS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16459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Captação de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Recursos Públicos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com Inteligência Artificial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65760" y="39319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FA3B1"/>
                </a:solidFill>
              </a:rPr>
              <a:t>Automatize, gerencie e maximize os convênios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FA3B1"/>
                </a:solidFill>
              </a:rPr>
              <a:t>da sua prefeitura ou assessoria.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 PROBLEMA QUE RESOLVEMOS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18872"/>
            <a:ext cx="192024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887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88720"/>
            <a:ext cx="283464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Prazos Perdidos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57200" y="242316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D5166"/>
                </a:solidFill>
              </a:rPr>
              <a:t>Prefeituras perdem milhões em emendas parlamentares por não acompanharem Transferegov e SIMEC a tempo.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291840" y="11887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91840" y="1188720"/>
            <a:ext cx="2834640" cy="109728"/>
          </a:xfrm>
          <a:prstGeom prst="rect">
            <a:avLst/>
          </a:prstGeom>
          <a:solidFill>
            <a:srgbClr val="1E9D78"/>
          </a:solidFill>
          <a:ln w="12700">
            <a:solidFill>
              <a:srgbClr val="1E9D7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37160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7472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Planilhas Caóticas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474720" y="242316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D5166"/>
                </a:solidFill>
              </a:rPr>
              <a:t>Assessorias que gerenciam 10 a 50 prefeituras sofrem para controlar convênios sem um sistema dedicado.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309360" y="11887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309360" y="1188720"/>
            <a:ext cx="283464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3716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224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Burocracia Manual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492240" y="242316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D5166"/>
                </a:solidFill>
              </a:rPr>
              <a:t>Horas perdidas consultando portais governamentais, gerando documentos e controlando prestações de contas.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9D78"/>
          </a:solidFill>
          <a:ln w="12700">
            <a:solidFill>
              <a:srgbClr val="1E9D7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65760" y="47091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💡  Municípios brasileiros deixam de captar R$ 2,3 bilhões por ano por falhas na gestão de convênios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 SOLUÇÃO GESTCONV360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18872"/>
            <a:ext cx="192024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143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D4E8"/>
                </a:solidFill>
              </a:rPr>
              <a:t>Um ERP completo especializado em captação e gestão de recursos públicos, com IA integrada para transformar sua operação.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2331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✦  Integrações automáticas com Transferegov, FNS e SIMEC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65760" y="28072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✦  IA que lê editais e documentos de convênios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65760" y="32826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✦  Geração de documentos DOCX/PDF com assinatura digital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65760" y="37581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✦  App Mobile para acompanhamento em tempo real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42336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✦  Gestão de tickets integrada ao Gmail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89120" y="1051560"/>
            <a:ext cx="4389120" cy="3749040"/>
          </a:xfrm>
          <a:prstGeom prst="rect">
            <a:avLst/>
          </a:prstGeom>
          <a:solidFill>
            <a:srgbClr val="0A1929"/>
          </a:solidFill>
          <a:ln w="19050">
            <a:solidFill>
              <a:srgbClr val="1E9D78"/>
            </a:solidFill>
            <a:prstDash val="solid"/>
          </a:ln>
          <a:effectLst>
            <a:outerShdw sx="100000" sy="100000" kx="0" ky="0" algn="bl" rotWithShape="0" blurRad="1905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C08A"/>
                </a:solidFill>
              </a:rPr>
              <a:t>🖥  GestConv360 Dashboard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0" y="1600200"/>
            <a:ext cx="3840480" cy="566928"/>
          </a:xfrm>
          <a:prstGeom prst="rect">
            <a:avLst/>
          </a:prstGeom>
          <a:solidFill>
            <a:srgbClr val="112233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BB8"/>
                </a:solidFill>
              </a:rPr>
              <a:t>Convênios Ativos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58000" y="1664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CC08A"/>
                </a:solidFill>
              </a:rPr>
              <a:t>127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0" y="2331720"/>
            <a:ext cx="3840480" cy="566928"/>
          </a:xfrm>
          <a:prstGeom prst="rect">
            <a:avLst/>
          </a:prstGeom>
          <a:solidFill>
            <a:srgbClr val="112233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0916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BB8"/>
                </a:solidFill>
              </a:rPr>
              <a:t>Pendências Críticas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858000" y="2395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08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72000" y="3063240"/>
            <a:ext cx="3840480" cy="566928"/>
          </a:xfrm>
          <a:prstGeom prst="rect">
            <a:avLst/>
          </a:prstGeom>
          <a:solidFill>
            <a:srgbClr val="112233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BB8"/>
                </a:solidFill>
              </a:rPr>
              <a:t>Captado este mês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5800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39C12"/>
                </a:solidFill>
              </a:rPr>
              <a:t>R$ 2,4M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72000" y="3794760"/>
            <a:ext cx="3840480" cy="566928"/>
          </a:xfrm>
          <a:prstGeom prst="rect">
            <a:avLst/>
          </a:prstGeom>
          <a:solidFill>
            <a:srgbClr val="112233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BB8"/>
                </a:solidFill>
              </a:rPr>
              <a:t>Documentos Gerados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858000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9D78"/>
                </a:solidFill>
              </a:rPr>
              <a:t>340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INTEGRAÇÕES GOVERNAMENTAIS AUTOMÁTICAS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18872"/>
            <a:ext cx="192024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166"/>
                </a:solidFill>
              </a:rPr>
              <a:t>Conecte-se diretamente aos portais do governo federal — sem copiar e colar, sem retrabalho.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645920"/>
            <a:ext cx="4251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645920"/>
            <a:ext cx="91440" cy="1463040"/>
          </a:xfrm>
          <a:prstGeom prst="rect">
            <a:avLst/>
          </a:prstGeom>
          <a:solidFill>
            <a:srgbClr val="1E9D78"/>
          </a:solidFill>
          <a:ln w="12700">
            <a:solidFill>
              <a:srgbClr val="1E9D7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755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Transferegov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075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D78"/>
                </a:solidFill>
              </a:rPr>
              <a:t>Plataforma Federal de Convênios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23500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070"/>
                </a:solidFill>
              </a:rPr>
              <a:t>Sincronização automática de convênios, prazos, planos de trabalho e prestações de contas.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645920"/>
            <a:ext cx="4251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645920"/>
            <a:ext cx="91440" cy="1463040"/>
          </a:xfrm>
          <a:prstGeom prst="rect">
            <a:avLst/>
          </a:prstGeom>
          <a:solidFill>
            <a:srgbClr val="1E9D78"/>
          </a:solidFill>
          <a:ln w="12700">
            <a:solidFill>
              <a:srgbClr val="1E9D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17556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FNS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37760" y="2075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D78"/>
                </a:solidFill>
              </a:rPr>
              <a:t>Fundo Nacional de Saúde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937760" y="23500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070"/>
                </a:solidFill>
              </a:rPr>
              <a:t>Acompanhamento de transferências do Ministério da Saúde e alertas de vencimento.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4320" y="3246120"/>
            <a:ext cx="4251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3246120"/>
            <a:ext cx="91440" cy="1463040"/>
          </a:xfrm>
          <a:prstGeom prst="rect">
            <a:avLst/>
          </a:prstGeom>
          <a:solidFill>
            <a:srgbClr val="1E9D78"/>
          </a:solidFill>
          <a:ln w="12700">
            <a:solidFill>
              <a:srgbClr val="1E9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355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SIMEC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2920" y="3675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D78"/>
                </a:solidFill>
              </a:rPr>
              <a:t>Obras da Educação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02920" y="39502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070"/>
                </a:solidFill>
              </a:rPr>
              <a:t>Monitoramento de obras educacionais e convênios do MEC em tempo real.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09160" y="3246120"/>
            <a:ext cx="4251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3246120"/>
            <a:ext cx="91440" cy="1463040"/>
          </a:xfrm>
          <a:prstGeom prst="rect">
            <a:avLst/>
          </a:prstGeom>
          <a:solidFill>
            <a:srgbClr val="1E9D78"/>
          </a:solidFill>
          <a:ln w="12700">
            <a:solidFill>
              <a:srgbClr val="1E9D7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0" y="3355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Emendas Estaduais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937760" y="3675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D78"/>
                </a:solidFill>
              </a:rPr>
              <a:t>Portais de Estados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937760" y="395020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070"/>
                </a:solidFill>
              </a:rPr>
              <a:t>Gestão integrada de emendas parlamentares estaduais e municipais.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INTELIGÊNCIA ARTIFICIAL INTEGRADA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18872"/>
            <a:ext cx="192024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143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C08A"/>
                </a:solidFill>
              </a:rPr>
              <a:t>Converse com seus documentos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" y="1691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9EC8E0"/>
                </a:solidFill>
              </a:rPr>
              <a:t>O assistente de IA do GestConv360 lê editais, contratos e documentos de convênios e responde suas perguntas em segundos — sem precisar ler 100 páginas manualmente.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2697480"/>
            <a:ext cx="5669280" cy="566928"/>
          </a:xfrm>
          <a:prstGeom prst="rect">
            <a:avLst/>
          </a:prstGeom>
          <a:solidFill>
            <a:srgbClr val="0A1929"/>
          </a:solidFill>
          <a:ln w="10160">
            <a:solidFill>
              <a:srgbClr val="1E9D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C08A"/>
                </a:solidFill>
              </a:rPr>
              <a:t>▸  Análise de Editais — 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28600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Identifica prazos, requisitos e incompatibilidades automaticamente.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3401568"/>
            <a:ext cx="5669280" cy="566928"/>
          </a:xfrm>
          <a:prstGeom prst="rect">
            <a:avLst/>
          </a:prstGeom>
          <a:solidFill>
            <a:srgbClr val="0A1929"/>
          </a:solidFill>
          <a:ln w="10160">
            <a:solidFill>
              <a:srgbClr val="1E9D7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493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C08A"/>
                </a:solidFill>
              </a:rPr>
              <a:t>▸  Perguntas &amp; Respostas — 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286000" y="3493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"Qual o prazo de prestação de contas deste convênio?" — em segundos.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4105656"/>
            <a:ext cx="5669280" cy="566928"/>
          </a:xfrm>
          <a:prstGeom prst="rect">
            <a:avLst/>
          </a:prstGeom>
          <a:solidFill>
            <a:srgbClr val="0A1929"/>
          </a:solidFill>
          <a:ln w="10160">
            <a:solidFill>
              <a:srgbClr val="1E9D7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41970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C08A"/>
                </a:solidFill>
              </a:rPr>
              <a:t>▸  Alertas Inteligentes — 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286000" y="41970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Detecta pendências críticas antes que virem problemas.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53796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A3B1"/>
                </a:solidFill>
              </a:rPr>
              <a:t>⚙ Tecnologia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37960" y="1600200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0A1929"/>
          </a:solidFill>
          <a:ln w="10160">
            <a:solidFill>
              <a:srgbClr val="1E9D7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1664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OpenAI GPT-4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537960" y="2258568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0A1929"/>
          </a:solidFill>
          <a:ln w="10160">
            <a:solidFill>
              <a:srgbClr val="1E9D7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0" y="23225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PGVector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537960" y="2916936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0A1929"/>
          </a:solidFill>
          <a:ln w="10160">
            <a:solidFill>
              <a:srgbClr val="1E9D7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0" y="29809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Embeddings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Semânticos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537960" y="3575304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0A1929"/>
          </a:solidFill>
          <a:ln w="10160">
            <a:solidFill>
              <a:srgbClr val="1E9D7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0" y="3639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Node.js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 Prisma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537960" y="4233672"/>
            <a:ext cx="2468880" cy="502920"/>
          </a:xfrm>
          <a:prstGeom prst="roundRect">
            <a:avLst>
              <a:gd name="adj" fmla="val 9091"/>
            </a:avLst>
          </a:prstGeom>
          <a:solidFill>
            <a:srgbClr val="0A1929"/>
          </a:solidFill>
          <a:ln w="10160">
            <a:solidFill>
              <a:srgbClr val="1E9D7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0" y="4297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 Mobile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PARA QUEM É O GESTCONV360?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18872"/>
            <a:ext cx="192024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1097280"/>
            <a:ext cx="4206240" cy="3749040"/>
          </a:xfrm>
          <a:prstGeom prst="rect">
            <a:avLst/>
          </a:prstGeom>
          <a:solidFill>
            <a:srgbClr val="EAF7F2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1097280"/>
            <a:ext cx="4206240" cy="91440"/>
          </a:xfrm>
          <a:prstGeom prst="rect">
            <a:avLst/>
          </a:prstGeom>
          <a:solidFill>
            <a:srgbClr val="1E9D78"/>
          </a:solidFill>
          <a:ln w="12700">
            <a:solidFill>
              <a:srgbClr val="1E9D7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3192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9D78"/>
                </a:solidFill>
              </a:rPr>
              <a:t>⭐  MAIS RÁPIDO E LUCRATIVO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93192" y="1508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</a:rPr>
              <a:t>Assessorias e Consultorias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93192" y="1938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9D78"/>
                </a:solidFill>
              </a:rPr>
              <a:t>B2B — Business to Business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93192" y="22860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5166"/>
                </a:solidFill>
              </a:rPr>
              <a:t>Empresas que prestam serviços para 10, 20 ou 50 prefeituras e precisam de uma plataforma para gerenciar todos os convênios dos clientes em um só lugar.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93192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</a:rPr>
              <a:t>✓  White Label com a logo da assessoria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93192" y="3538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</a:rPr>
              <a:t>✓  Dashboard unificado de todos os clientes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93192" y="39227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</a:rPr>
              <a:t>✓  Gestão de tickets integrada ao Gmail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93192" y="4306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</a:rPr>
              <a:t>✓  Decisão de compra em dias, não meses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09160" y="1097280"/>
            <a:ext cx="4206240" cy="3749040"/>
          </a:xfrm>
          <a:prstGeom prst="rect">
            <a:avLst/>
          </a:prstGeom>
          <a:solidFill>
            <a:srgbClr val="FEF9F0"/>
          </a:solidFill>
          <a:ln w="12700">
            <a:solidFill>
              <a:srgbClr val="D0DF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1097280"/>
            <a:ext cx="4206240" cy="91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3752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39C12"/>
                </a:solidFill>
              </a:rPr>
              <a:t>CONTRATOS ANUAIS GARANTIDOS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873752" y="1508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</a:rPr>
              <a:t>Prefeituras e Órgãos Públicos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873752" y="1938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C12"/>
                </a:solidFill>
              </a:rPr>
              <a:t>B2G — Business to Government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873752" y="22860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D5166"/>
                </a:solidFill>
              </a:rPr>
              <a:t>Municípios de qualquer porte que querem profissionalizar a captação de recursos e não perder emendas parlamentares por falta de acompanhamento.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73752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</a:rPr>
              <a:t>✓  Dispensa de licitação até R$ 59 mil/ano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3752" y="3538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</a:rPr>
              <a:t>✓  Contratos anuais seguros e previsíveis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73752" y="39227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</a:rPr>
              <a:t>✓  Integração total com portais federais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73752" y="4306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</a:rPr>
              <a:t>✓  App Mobile para secretários e prefeitos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PLANOS E INVESTIMENTO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18872"/>
            <a:ext cx="192024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097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C08A"/>
                </a:solidFill>
              </a:rPr>
              <a:t>Modelo SaaS — Assessorias e Consultorias (B2B)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28600" y="1554480"/>
            <a:ext cx="2788920" cy="32918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16916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CC08A"/>
                </a:solidFill>
              </a:rPr>
              <a:t>BÁSICO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R$ 1.500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20040" y="2606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/ mês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29260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Setup: R$ 3.000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32461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Até 5 prefeituras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1480" y="35935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Integrações governamentais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11480" y="39410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Gestão de documentos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11480" y="42885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Suporte por email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46120" y="1554480"/>
            <a:ext cx="2788920" cy="3291840"/>
          </a:xfrm>
          <a:prstGeom prst="rect">
            <a:avLst/>
          </a:prstGeom>
          <a:solidFill>
            <a:srgbClr val="1E9D78"/>
          </a:solidFill>
          <a:ln w="25400">
            <a:solidFill>
              <a:srgbClr val="2CC08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46120" y="1554480"/>
            <a:ext cx="2788920" cy="411480"/>
          </a:xfrm>
          <a:prstGeom prst="rect">
            <a:avLst/>
          </a:prstGeom>
          <a:solidFill>
            <a:srgbClr val="2CC08A"/>
          </a:solidFill>
          <a:ln w="12700">
            <a:solidFill>
              <a:srgbClr val="2CC0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46120" y="16002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D2137"/>
                </a:solidFill>
              </a:rPr>
              <a:t>MAIS POPULAR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2103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2137"/>
                </a:solidFill>
              </a:rPr>
              <a:t>PRO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337560" y="2468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R$ 3.500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3337560" y="3017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F0E8"/>
                </a:solidFill>
              </a:rPr>
              <a:t>/ mês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337560" y="33375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EAD8"/>
                </a:solidFill>
              </a:rPr>
              <a:t>Setup: R$ 5.000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429000" y="36576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Até 15 prefeituras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429000" y="40050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IA habilitada (editais)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429000" y="43525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White Label incluso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429000" y="47000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Suporte prioritário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63640" y="1554480"/>
            <a:ext cx="2788920" cy="32918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00800" y="16916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CC08A"/>
                </a:solidFill>
              </a:rPr>
              <a:t>ENTERPRISE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35508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R$ 8.000+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6355080" y="2606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/ mês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355080" y="29260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8A"/>
                </a:solidFill>
              </a:rPr>
              <a:t>Setup: R$ 8.000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446520" y="32461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Prefeituras ilimitadas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446520" y="359359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White Label completo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446520" y="39410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IA avançada + API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446520" y="42885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Gerente de conta dedicado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* Prefeituras: contratos anuais de R$ 18.000 a R$ 180.000 dependendo do porte do município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POR QUE O GESTCONV360 É ÚNICO?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18872"/>
            <a:ext cx="192024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1097280"/>
            <a:ext cx="34290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Funcionalidade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703320" y="1097280"/>
            <a:ext cx="242316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9476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GestConv360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097280"/>
            <a:ext cx="288036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364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Concorrentes Tradicionais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" y="1508760"/>
            <a:ext cx="3429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572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Integração Transferegov/SIMEC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03320" y="1508760"/>
            <a:ext cx="2423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9476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6B4A"/>
                </a:solidFill>
              </a:rPr>
              <a:t>✅  Automática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72200" y="1508760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❌  Manual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8600" y="2020824"/>
            <a:ext cx="342900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2084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IA para leitura de editais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703320" y="2020824"/>
            <a:ext cx="242316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94760" y="2084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6B4A"/>
                </a:solidFill>
              </a:rPr>
              <a:t>✅  OpenAI + PGVector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72200" y="2020824"/>
            <a:ext cx="288036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364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❌  Não disponível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28600" y="2532888"/>
            <a:ext cx="3429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25968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App Mobile nativo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703320" y="2532888"/>
            <a:ext cx="2423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94760" y="25968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6B4A"/>
                </a:solidFill>
              </a:rPr>
              <a:t>✅  iOS e Android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72200" y="2532888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63640" y="25968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❌  Apenas web legada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28600" y="3044952"/>
            <a:ext cx="342900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004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Assinaturas digitais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703320" y="3044952"/>
            <a:ext cx="242316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79476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6B4A"/>
                </a:solidFill>
              </a:rPr>
              <a:t>✅  Fluxo completo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172200" y="3044952"/>
            <a:ext cx="288036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6364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8910"/>
                </a:solidFill>
              </a:rPr>
              <a:t>⚠  Parcial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28600" y="3557016"/>
            <a:ext cx="3429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36210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Tecnologia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703320" y="3557016"/>
            <a:ext cx="2423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794760" y="36210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6B4A"/>
                </a:solidFill>
              </a:rPr>
              <a:t>✅  Node / React / IA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172200" y="3557016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63640" y="36210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❌  PHP antigo / Delphi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228600" y="4069080"/>
            <a:ext cx="342900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20040" y="4133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</a:rPr>
              <a:t>White Label para assessorias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3703320" y="4069080"/>
            <a:ext cx="242316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794760" y="4133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6B4A"/>
                </a:solidFill>
              </a:rPr>
              <a:t>✅  Totalmente customizável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172200" y="4069080"/>
            <a:ext cx="288036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8E6E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263640" y="4133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❌  Não oferece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9D78"/>
          </a:solidFill>
          <a:ln w="12700">
            <a:solidFill>
              <a:srgbClr val="1E9D7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65760" y="47091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🏆  Tecnologia moderna que coloca o GestConv360 anos à frente dos ERPs públicos tradicionais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 RETORNO SOBRE O INVESTIMENTO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18872"/>
            <a:ext cx="192024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1097280"/>
            <a:ext cx="2743200" cy="1828800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1097280"/>
            <a:ext cx="2743200" cy="73152"/>
          </a:xfrm>
          <a:prstGeom prst="rect">
            <a:avLst/>
          </a:prstGeom>
          <a:solidFill>
            <a:srgbClr val="2CC08A"/>
          </a:solidFill>
          <a:ln w="12700">
            <a:solidFill>
              <a:srgbClr val="2CC0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234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C08A"/>
                </a:solidFill>
              </a:rPr>
              <a:t>100+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20040" y="2011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EC8E0"/>
                </a:solidFill>
              </a:rPr>
              <a:t>horas economizadas por mês em consultas manuais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2743200" cy="1828800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097280"/>
            <a:ext cx="27432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1234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39C12"/>
                </a:solidFill>
              </a:rPr>
              <a:t>R$ 180k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3291840" y="2011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EC8E0"/>
                </a:solidFill>
              </a:rPr>
              <a:t>valor médio de convênio captado com alertas de prazo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72200" y="1097280"/>
            <a:ext cx="2743200" cy="1828800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1097280"/>
            <a:ext cx="2743200" cy="73152"/>
          </a:xfrm>
          <a:prstGeom prst="rect">
            <a:avLst/>
          </a:prstGeom>
          <a:solidFill>
            <a:srgbClr val="5BC0DE"/>
          </a:solidFill>
          <a:ln w="12700">
            <a:solidFill>
              <a:srgbClr val="5BC0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1234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C0DE"/>
                </a:solidFill>
              </a:rPr>
              <a:t>50x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6263640" y="2011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EC8E0"/>
                </a:solidFill>
              </a:rPr>
              <a:t>mais eficiente na análise de editais com IA vs. leitura manual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28600" y="3108960"/>
            <a:ext cx="8686800" cy="1737360"/>
          </a:xfrm>
          <a:prstGeom prst="rect">
            <a:avLst/>
          </a:prstGeom>
          <a:solidFill>
            <a:srgbClr val="061018"/>
          </a:solidFill>
          <a:ln w="19050">
            <a:solidFill>
              <a:srgbClr val="1E9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C08A"/>
                </a:solidFill>
              </a:rPr>
              <a:t>💰  POTENCIAL DE VALUATION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Com R$ 20.000 de MRR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EC8E0"/>
                </a:solidFill>
              </a:rPr>
              <a:t>  →  valuation estimado de  </a:t>
            </a:r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F39C12"/>
                </a:solidFill>
              </a:rPr>
              <a:t>R$ 1,5 a 2 milhões</a:t>
            </a:r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EC8E0"/>
                </a:solidFill>
              </a:rPr>
              <a:t>Venda da tecnologia (IP): entre 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F39C12"/>
                </a:solidFill>
              </a:rPr>
              <a:t>R$ 300 mil a R$ 800 mil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EC8E0"/>
                </a:solidFill>
              </a:rPr>
              <a:t>  para players como IPM, Betha ou Sonner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E9D78"/>
          </a:solidFill>
          <a:ln w="12700">
            <a:solidFill>
              <a:srgbClr val="1E9D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PRONTO PARA TRANSFORMAR SUA GESTÃO?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18872"/>
            <a:ext cx="192024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1097280"/>
            <a:ext cx="2834640" cy="2514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1887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9D78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Demonstração Gratuita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22860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EC8E0"/>
                </a:solidFill>
              </a:rPr>
              <a:t>Veja ao vivo a IA lendo um edital e a sincronização automática com Transferegov — em 30 minutos.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097280"/>
            <a:ext cx="2834640" cy="2514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11887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9D78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29184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Proposta Personalizada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91840" y="22860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EC8E0"/>
                </a:solidFill>
              </a:rPr>
              <a:t>Receba um plano sob medida para o volume de prefeituras que sua assessoria gerencia hoje.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72200" y="1097280"/>
            <a:ext cx="2834640" cy="2514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11887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9D78"/>
                </a:solidFill>
              </a:rPr>
              <a:t>03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26364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Onboarding Rápido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63640" y="22860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EC8E0"/>
                </a:solidFill>
              </a:rPr>
              <a:t>Implantação em até 15 dias com treinamento completo para toda a equipe.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65760" y="39502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137"/>
                </a:solidFill>
              </a:rPr>
              <a:t>Fale conosco agora e agende sua demonstração gratuita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65760" y="44622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www.gestconv360.com.br  |  contato@gestconv360.com.br  |  WhatsApp: (00) 00000-0000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GestConv360 - Apresentação Comercial</dc:title>
  <dc:subject>PptxGenJS Presentation</dc:subject>
  <dc:creator>PptxGenJS</dc:creator>
  <cp:lastModifiedBy>PptxGenJS</cp:lastModifiedBy>
  <cp:revision>1</cp:revision>
  <dcterms:created xsi:type="dcterms:W3CDTF">2026-04-28T00:54:02Z</dcterms:created>
  <dcterms:modified xsi:type="dcterms:W3CDTF">2026-04-28T00:54:02Z</dcterms:modified>
</cp:coreProperties>
</file>